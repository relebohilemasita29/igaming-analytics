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B9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4042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F20996-CFD9-43A9-8200-3CA4FF6DD0F2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52AD5-7C07-478D-A516-0D555F4617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5678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52AD5-7C07-478D-A516-0D555F4617F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048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837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78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200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4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829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335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92699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9269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830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105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210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45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259963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7316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130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351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63615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73787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735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70480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6990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34561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70620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5041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707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7300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0416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62B78-45E1-08E1-AF76-664F49873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233600-0D39-8139-BC0E-5F77CE719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2D2F5-0FA6-082E-0E24-AF9759471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1C0BF-A4DD-086E-9EA5-4E5A2A1C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06048-572D-BADB-D7EE-20CC130C2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2887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776A1-A782-BD23-F261-D378DA10A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ACED0-BAD7-8BE6-95CC-56402C098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B663D-B829-89BA-BE29-1FFB968D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17D1A-46DD-6802-B728-BA7D36203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4DD3F-5186-B31F-12B3-2C2DAA53A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D233A0A6-B309-4206-B388-918EB5F40D61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69460B6E-E566-4F1B-98F9-ECFAB56E40B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0952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A5E02CD7-03AE-F207-AD2C-15DCF339ED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29" b="4701"/>
          <a:stretch>
            <a:fillRect/>
          </a:stretch>
        </p:blipFill>
        <p:spPr>
          <a:xfrm>
            <a:off x="0" y="-3"/>
            <a:ext cx="12192001" cy="6858000"/>
          </a:xfrm>
          <a:prstGeom prst="rect">
            <a:avLst/>
          </a:prstGeom>
          <a:noFill/>
        </p:spPr>
      </p:pic>
      <p:sp>
        <p:nvSpPr>
          <p:cNvPr id="35" name="Title 2">
            <a:extLst>
              <a:ext uri="{FF2B5EF4-FFF2-40B4-BE49-F238E27FC236}">
                <a16:creationId xmlns:a16="http://schemas.microsoft.com/office/drawing/2014/main" id="{781AEB46-B6DB-99A3-D2D8-408638A37E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-1" y="-2"/>
            <a:ext cx="5821378" cy="6857999"/>
          </a:xfrm>
          <a:gradFill flip="none" rotWithShape="1">
            <a:gsLst>
              <a:gs pos="56000">
                <a:schemeClr val="bg1">
                  <a:lumMod val="99000"/>
                  <a:lumOff val="1000"/>
                </a:schemeClr>
              </a:gs>
              <a:gs pos="100000">
                <a:schemeClr val="bg1">
                  <a:lumMod val="97000"/>
                  <a:alpha val="13000"/>
                </a:schemeClr>
              </a:gs>
            </a:gsLst>
            <a:lin ang="1080000" scaled="0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j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A92682E-0320-A2CC-C8B0-B3F7809070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97"/>
          <a:stretch>
            <a:fillRect/>
          </a:stretch>
        </p:blipFill>
        <p:spPr>
          <a:xfrm>
            <a:off x="508738" y="286175"/>
            <a:ext cx="2994953" cy="255661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50DCC39-69CA-653E-60B3-DBFCE90112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5" t="38540" b="39280"/>
          <a:stretch>
            <a:fillRect/>
          </a:stretch>
        </p:blipFill>
        <p:spPr>
          <a:xfrm>
            <a:off x="838317" y="2842789"/>
            <a:ext cx="2335794" cy="67900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ABE21A0-9741-AD7E-2A4F-E6D04C79C324}"/>
              </a:ext>
            </a:extLst>
          </p:cNvPr>
          <p:cNvSpPr txBox="1"/>
          <p:nvPr/>
        </p:nvSpPr>
        <p:spPr>
          <a:xfrm>
            <a:off x="427256" y="3692046"/>
            <a:ext cx="463363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ptos Display" panose="020B0004020202020204" pitchFamily="34" charset="0"/>
                <a:cs typeface="Arial" panose="020B0604020202020204" pitchFamily="34" charset="0"/>
              </a:rPr>
              <a:t>iGaming Market Performance: Deposit, Bonus &amp; Retention Insights</a:t>
            </a:r>
          </a:p>
          <a:p>
            <a:endParaRPr lang="en-GB" sz="2000" b="1" dirty="0">
              <a:latin typeface="Aptos Display" panose="020B0004020202020204" pitchFamily="34" charset="0"/>
              <a:cs typeface="Arial" panose="020B0604020202020204" pitchFamily="34" charset="0"/>
            </a:endParaRPr>
          </a:p>
          <a:p>
            <a:r>
              <a:rPr lang="en-GB" sz="1400" b="1" dirty="0">
                <a:latin typeface="Aptos Display" panose="020B0004020202020204" pitchFamily="34" charset="0"/>
                <a:cs typeface="Arial" panose="020B0604020202020204" pitchFamily="34" charset="0"/>
              </a:rPr>
              <a:t>Special Projects Analyst — Interview Presentation</a:t>
            </a:r>
          </a:p>
          <a:p>
            <a:endParaRPr lang="en-GB" sz="1400" b="1" dirty="0">
              <a:latin typeface="Aptos Display" panose="020B0004020202020204" pitchFamily="34" charset="0"/>
              <a:cs typeface="Arial" panose="020B0604020202020204" pitchFamily="34" charset="0"/>
            </a:endParaRPr>
          </a:p>
          <a:p>
            <a:r>
              <a:rPr lang="en-GB" sz="1400" b="1" dirty="0">
                <a:solidFill>
                  <a:srgbClr val="F2B94D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By Relebohile Masita</a:t>
            </a:r>
          </a:p>
        </p:txBody>
      </p:sp>
    </p:spTree>
    <p:extLst>
      <p:ext uri="{BB962C8B-B14F-4D97-AF65-F5344CB8AC3E}">
        <p14:creationId xmlns:p14="http://schemas.microsoft.com/office/powerpoint/2010/main" val="3412768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5D582-A83E-5544-EB3F-6BC01880F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44EAF-ECC3-3EA8-1853-A1CB8429C3F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81B30C-554F-EBC5-83E4-FF5C148A30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29" b="4701"/>
          <a:stretch>
            <a:fillRect/>
          </a:stretch>
        </p:blipFill>
        <p:spPr>
          <a:xfrm>
            <a:off x="0" y="-3"/>
            <a:ext cx="12192001" cy="6858000"/>
          </a:xfrm>
          <a:prstGeom prst="rect">
            <a:avLst/>
          </a:prstGeom>
          <a:noFill/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55E46BC1-6836-00C7-B6F9-F0447BEA757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"/>
            <a:ext cx="12192000" cy="6857999"/>
          </a:xfrm>
          <a:prstGeom prst="rect">
            <a:avLst/>
          </a:prstGeom>
          <a:gradFill flip="none" rotWithShape="1">
            <a:gsLst>
              <a:gs pos="56000">
                <a:schemeClr val="bg1">
                  <a:lumMod val="99000"/>
                  <a:lumOff val="1000"/>
                </a:schemeClr>
              </a:gs>
              <a:gs pos="100000">
                <a:schemeClr val="bg1">
                  <a:lumMod val="97000"/>
                  <a:alpha val="13000"/>
                </a:schemeClr>
              </a:gs>
            </a:gsLst>
            <a:lin ang="1080000" scaled="0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/>
                </a:solidFill>
              </a:rPr>
              <a:t>j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B85C8EC-3356-E2C3-2B01-C25CA444794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1">
            <a:off x="10868283" y="5669280"/>
            <a:ext cx="852834" cy="85283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6570B03-B2DC-2572-20E1-4A0AD65F3497}"/>
              </a:ext>
            </a:extLst>
          </p:cNvPr>
          <p:cNvSpPr txBox="1"/>
          <p:nvPr/>
        </p:nvSpPr>
        <p:spPr>
          <a:xfrm>
            <a:off x="880692" y="2197122"/>
            <a:ext cx="40484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None/>
            </a:pPr>
            <a:r>
              <a:rPr lang="en-GB" sz="1600" b="1" dirty="0">
                <a:solidFill>
                  <a:srgbClr val="F2B94D"/>
                </a:solidFill>
              </a:rPr>
              <a:t>01 - Active Players by Market</a:t>
            </a:r>
            <a:br>
              <a:rPr lang="en-GB" sz="1600" dirty="0"/>
            </a:br>
            <a:r>
              <a:rPr lang="en-GB" sz="1600" dirty="0"/>
              <a:t>Which countries generate the most active players</a:t>
            </a:r>
          </a:p>
          <a:p>
            <a:pPr rtl="0">
              <a:buNone/>
            </a:pPr>
            <a:endParaRPr lang="en-GB" sz="1600" dirty="0"/>
          </a:p>
          <a:p>
            <a:pPr rtl="0">
              <a:buNone/>
            </a:pPr>
            <a:r>
              <a:rPr lang="en-GB" sz="1600" b="1" dirty="0">
                <a:solidFill>
                  <a:srgbClr val="F2B94D"/>
                </a:solidFill>
              </a:rPr>
              <a:t>02 - Active Players by Product</a:t>
            </a:r>
            <a:br>
              <a:rPr lang="en-GB" sz="1600" dirty="0"/>
            </a:br>
            <a:r>
              <a:rPr lang="en-GB" sz="1600" dirty="0"/>
              <a:t>Where casino, sports and live casino engagement concentrates</a:t>
            </a:r>
          </a:p>
          <a:p>
            <a:pPr rtl="0">
              <a:buNone/>
            </a:pPr>
            <a:endParaRPr lang="en-GB" sz="1600" dirty="0"/>
          </a:p>
          <a:p>
            <a:pPr rtl="0">
              <a:buNone/>
            </a:pPr>
            <a:r>
              <a:rPr lang="en-GB" sz="1600" b="1" dirty="0">
                <a:solidFill>
                  <a:srgbClr val="F2B94D"/>
                </a:solidFill>
              </a:rPr>
              <a:t>03 - Deposit Value by Market</a:t>
            </a:r>
            <a:br>
              <a:rPr lang="en-GB" sz="1600" dirty="0"/>
            </a:br>
            <a:r>
              <a:rPr lang="en-GB" sz="1600" dirty="0"/>
              <a:t>Which markets produce the highest deposit value</a:t>
            </a:r>
          </a:p>
          <a:p>
            <a:endParaRPr lang="en-GB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071930-B0D4-3C60-3D25-9627E8AAB7B8}"/>
              </a:ext>
            </a:extLst>
          </p:cNvPr>
          <p:cNvSpPr txBox="1"/>
          <p:nvPr/>
        </p:nvSpPr>
        <p:spPr>
          <a:xfrm>
            <a:off x="6292506" y="2197122"/>
            <a:ext cx="40484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None/>
            </a:pPr>
            <a:r>
              <a:rPr lang="en-GB" sz="1600" b="1" dirty="0">
                <a:solidFill>
                  <a:srgbClr val="F2B94D"/>
                </a:solidFill>
              </a:rPr>
              <a:t>04 - Bonus Effectiveness</a:t>
            </a:r>
            <a:br>
              <a:rPr lang="en-GB" sz="1600" dirty="0"/>
            </a:br>
            <a:r>
              <a:rPr lang="en-GB" sz="1600" dirty="0"/>
              <a:t>Whether bonus spending improves deposit behaviour</a:t>
            </a:r>
          </a:p>
          <a:p>
            <a:pPr rtl="0">
              <a:buNone/>
            </a:pPr>
            <a:endParaRPr lang="en-GB" sz="1600" dirty="0"/>
          </a:p>
          <a:p>
            <a:pPr rtl="0">
              <a:buNone/>
            </a:pPr>
            <a:r>
              <a:rPr lang="en-GB" sz="1600" b="1" dirty="0">
                <a:solidFill>
                  <a:srgbClr val="F2B94D"/>
                </a:solidFill>
              </a:rPr>
              <a:t>05 - Turnover by Market</a:t>
            </a:r>
            <a:br>
              <a:rPr lang="en-GB" sz="1600" dirty="0"/>
            </a:br>
            <a:r>
              <a:rPr lang="en-GB" sz="1600" dirty="0"/>
              <a:t>Where turnover is concentrated</a:t>
            </a:r>
          </a:p>
          <a:p>
            <a:pPr rtl="0">
              <a:buNone/>
            </a:pPr>
            <a:endParaRPr lang="en-GB" sz="1600" dirty="0"/>
          </a:p>
          <a:p>
            <a:pPr rtl="0">
              <a:buNone/>
            </a:pPr>
            <a:r>
              <a:rPr lang="en-GB" sz="1600" b="1" dirty="0">
                <a:solidFill>
                  <a:srgbClr val="F2B94D"/>
                </a:solidFill>
              </a:rPr>
              <a:t>06 - First-Time Depositor Value</a:t>
            </a:r>
            <a:br>
              <a:rPr lang="en-GB" sz="1600" dirty="0"/>
            </a:br>
            <a:r>
              <a:rPr lang="en-GB" sz="1600" dirty="0"/>
              <a:t>Where new-player revenue is strongest</a:t>
            </a:r>
          </a:p>
          <a:p>
            <a:endParaRPr lang="en-GB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9C569D-B9C0-4E71-DCEB-3C3E620310BE}"/>
              </a:ext>
            </a:extLst>
          </p:cNvPr>
          <p:cNvSpPr txBox="1"/>
          <p:nvPr/>
        </p:nvSpPr>
        <p:spPr>
          <a:xfrm>
            <a:off x="880692" y="655523"/>
            <a:ext cx="843211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2B94D"/>
                </a:solidFill>
              </a:rPr>
              <a:t>What This Analysis Covers</a:t>
            </a:r>
          </a:p>
          <a:p>
            <a:endParaRPr lang="en-GB" sz="1600" b="1" dirty="0">
              <a:solidFill>
                <a:srgbClr val="F2B94D"/>
              </a:solidFill>
            </a:endParaRPr>
          </a:p>
          <a:p>
            <a:r>
              <a:rPr lang="en-GB" sz="1600" b="1" dirty="0"/>
              <a:t>A market-by-market look at player activity, deposit value and bonus effectiveness across the iGaming platform, aimed at surfacing where value actually sits, not just where volume sits.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910520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6359DE8-7140-6EFB-F4B0-4789F8D89C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10868283" y="5669280"/>
            <a:ext cx="852834" cy="8528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F0AD04-17CC-41A6-A3CA-E20F40A6E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13" y="771795"/>
            <a:ext cx="7074145" cy="48974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98EFC93-F05C-33FE-86E9-F9078EE8B082}"/>
              </a:ext>
            </a:extLst>
          </p:cNvPr>
          <p:cNvSpPr txBox="1"/>
          <p:nvPr/>
        </p:nvSpPr>
        <p:spPr>
          <a:xfrm>
            <a:off x="7731659" y="771795"/>
            <a:ext cx="40484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F2B94D"/>
                </a:solidFill>
              </a:rPr>
              <a:t>Key Insight: </a:t>
            </a:r>
          </a:p>
          <a:p>
            <a:endParaRPr lang="en-GB" sz="1600" dirty="0"/>
          </a:p>
          <a:p>
            <a:r>
              <a:rPr lang="en-GB" sz="1600" dirty="0"/>
              <a:t>Germany (DE) and Sweden (SE) dominate the active player base, at roughly 3,900 and 2,950 active players respectively, more than double Norway (NO), the next largest market. </a:t>
            </a:r>
          </a:p>
          <a:p>
            <a:endParaRPr lang="en-GB" sz="1600" dirty="0"/>
          </a:p>
          <a:p>
            <a:r>
              <a:rPr lang="en-GB" sz="1600" dirty="0"/>
              <a:t>The remaining markets each contribute under 500 active players.</a:t>
            </a:r>
          </a:p>
          <a:p>
            <a:endParaRPr lang="en-GB" sz="1600" dirty="0"/>
          </a:p>
          <a:p>
            <a:r>
              <a:rPr lang="en-GB" sz="1600" dirty="0"/>
              <a:t>Player activity is heavily</a:t>
            </a:r>
          </a:p>
          <a:p>
            <a:r>
              <a:rPr lang="en-GB" sz="1600" dirty="0"/>
              <a:t>concentrated in two markets. Retention and engagement initiatives in DE and SE carry outsized impact on total platform activity.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D7800E-F5FC-3EBD-602E-6E5ACB1DDB8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1913" y="407406"/>
            <a:ext cx="7074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2B94D"/>
                </a:solidFill>
              </a:rPr>
              <a:t>Which Countries Generate the Most Active Players</a:t>
            </a:r>
          </a:p>
        </p:txBody>
      </p:sp>
    </p:spTree>
    <p:extLst>
      <p:ext uri="{BB962C8B-B14F-4D97-AF65-F5344CB8AC3E}">
        <p14:creationId xmlns:p14="http://schemas.microsoft.com/office/powerpoint/2010/main" val="2889980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4E1DE8-419F-0743-80F2-9D22B077798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10868283" y="5669280"/>
            <a:ext cx="852834" cy="8528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77903C-788A-6052-0D64-29ACC794F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13" y="771795"/>
            <a:ext cx="7074145" cy="48974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6DF83A-DD4A-4352-4329-945096E7016B}"/>
              </a:ext>
            </a:extLst>
          </p:cNvPr>
          <p:cNvSpPr txBox="1"/>
          <p:nvPr/>
        </p:nvSpPr>
        <p:spPr>
          <a:xfrm>
            <a:off x="7731659" y="771795"/>
            <a:ext cx="40484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F2B94D"/>
                </a:solidFill>
              </a:rPr>
              <a:t>Key Insight: </a:t>
            </a:r>
          </a:p>
          <a:p>
            <a:endParaRPr lang="en-GB" sz="1600" dirty="0"/>
          </a:p>
          <a:p>
            <a:r>
              <a:rPr lang="en-GB" sz="1600" dirty="0"/>
              <a:t>Across almost every market with meaningful volume, HU, CL, TH, DE, SE, UA casino active players outpace sports and live casino active players by 3-5x. Sports and live casino only approach casino volume in a handful of markets (BR, DE, CH, HU).</a:t>
            </a:r>
          </a:p>
          <a:p>
            <a:br>
              <a:rPr lang="en-GB" sz="1600" dirty="0"/>
            </a:br>
            <a:r>
              <a:rPr lang="en-GB" sz="1600" dirty="0"/>
              <a:t>Casino is the primary engagement driver, not sports betting. Product investment and cross-sell campaigns should lead with casino, using it as the on-ramp into sports and live casino.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606228-7F0F-4717-4323-DF97DD1EC1D1}"/>
              </a:ext>
            </a:extLst>
          </p:cNvPr>
          <p:cNvSpPr txBox="1"/>
          <p:nvPr/>
        </p:nvSpPr>
        <p:spPr>
          <a:xfrm>
            <a:off x="411913" y="407406"/>
            <a:ext cx="7074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2B94D"/>
                </a:solidFill>
              </a:rPr>
              <a:t>Casino Drives Engagement Across Nearly Every Market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BEBFE8-0345-A917-A20D-730096E28E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14" y="771795"/>
            <a:ext cx="7074144" cy="489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240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C040A6-67A4-2531-3EAD-06881B41046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10868283" y="5669280"/>
            <a:ext cx="852834" cy="8528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57EFBE-7EEE-838F-3C40-C436F887B1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13" y="771795"/>
            <a:ext cx="7074145" cy="48974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48EB15-F045-925D-3A88-281C0E8AAD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31659" y="771795"/>
            <a:ext cx="40484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F2B94D"/>
                </a:solidFill>
              </a:rPr>
              <a:t>Key Insight: </a:t>
            </a:r>
          </a:p>
          <a:p>
            <a:endParaRPr lang="en-GB" sz="1600" dirty="0"/>
          </a:p>
          <a:p>
            <a:r>
              <a:rPr lang="en-GB" sz="1600" dirty="0"/>
              <a:t>Thailand (TH) leads deposit value at ~£985k, closely followed by Ukraine (UA, ~£915k) and Sweden (SE, ~£885k). Notably, TH and UA rank far higher on deposit value than on active player count  signalling a smaller but higher-value player base in these markets.</a:t>
            </a:r>
          </a:p>
          <a:p>
            <a:br>
              <a:rPr lang="en-GB" sz="1600" dirty="0"/>
            </a:br>
            <a:r>
              <a:rPr lang="en-GB" sz="1600" dirty="0"/>
              <a:t>Active player count alone understates market value. TH and UA deserve dedicated retention focus given their outsized deposit value relative to player numbers.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39A35-6B97-FB3A-3880-1DFDF0AA49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1913" y="407406"/>
            <a:ext cx="7074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2B94D"/>
                </a:solidFill>
              </a:rPr>
              <a:t>Which Markets Produce the Highest Deposit Value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D0AC19-0EEA-8A14-E47C-6956B2F553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13" y="771795"/>
            <a:ext cx="7074145" cy="489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51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252D68-D7B0-20BF-EAB3-6C7D7F67724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10868283" y="5669280"/>
            <a:ext cx="852834" cy="8528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C1DDA5-455B-DCC0-1F6D-C47F133154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13" y="771795"/>
            <a:ext cx="7074145" cy="48974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1E6A12-B680-4779-9B4C-F3F7B186E11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31659" y="771795"/>
            <a:ext cx="404842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F2B94D"/>
                </a:solidFill>
              </a:rPr>
              <a:t>Key Insight: </a:t>
            </a:r>
          </a:p>
          <a:p>
            <a:endParaRPr lang="en-GB" sz="1600" dirty="0"/>
          </a:p>
          <a:p>
            <a:r>
              <a:rPr lang="en-GB" sz="1600" dirty="0"/>
              <a:t>Bonus withdrawn and deposits show a broadly positive relationship, consistent with bonus spend supporting deposit activity. But several markets sit well off the trendline: three points near £17-20k bonus withdrawn generate £880k-980k in deposits, far above trend, while one market at ~£48k bonus withdrawn under-delivers relative to its spend.</a:t>
            </a:r>
          </a:p>
          <a:p>
            <a:endParaRPr lang="en-GB" sz="1600" dirty="0"/>
          </a:p>
          <a:p>
            <a:r>
              <a:rPr lang="en-GB" sz="1600" dirty="0"/>
              <a:t>Bonus spend is not uniformly efficient. The over-performing markets show where bonus budget converts best; the under-performer is a candidate to review or reallocate.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AD8B85-E96B-619E-895B-34EEF2D1A1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1913" y="407406"/>
            <a:ext cx="7074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2B94D"/>
                </a:solidFill>
              </a:rPr>
              <a:t>Which Markets Produce the Highest Deposit Value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AA43A6-0663-23F9-F844-880BF04F04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13" y="771795"/>
            <a:ext cx="7074145" cy="489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551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C1A475-0A37-F57C-9F43-1DD73AD637F1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10868283" y="5669280"/>
            <a:ext cx="852834" cy="8528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FD18F7-628B-ADD5-A956-771BE8E66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13" y="771795"/>
            <a:ext cx="7074145" cy="48974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F4B412-0692-4C85-2317-C619CC7A44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31659" y="771795"/>
            <a:ext cx="40484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F2B94D"/>
                </a:solidFill>
              </a:rPr>
              <a:t>Key Insight: </a:t>
            </a:r>
          </a:p>
          <a:p>
            <a:endParaRPr lang="en-GB" sz="1600" dirty="0"/>
          </a:p>
          <a:p>
            <a:r>
              <a:rPr lang="en-GB" sz="1600" dirty="0"/>
              <a:t>Sweden (SE) and Finland (FI) together account for roughly 80% of total turnover (~50% and ~30% respectively), with Norway (NO) a distant third at ~13%. All remaining markets combined make up a small single-digit share.</a:t>
            </a:r>
          </a:p>
          <a:p>
            <a:endParaRPr lang="en-GB" sz="1600" dirty="0"/>
          </a:p>
          <a:p>
            <a:r>
              <a:rPr lang="en-GB" sz="1600" dirty="0"/>
              <a:t>Turnover concentration in SE/FI is even sharper than the active-player concentration in DE/SE the two lenses point to different top markets, and both deserve dedicated commercial attention rather than a one-size-fits-all approach.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60C4F1-FA19-38C8-6B0F-6899DB64E85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1913" y="407406"/>
            <a:ext cx="7074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2B94D"/>
                </a:solidFill>
              </a:rPr>
              <a:t>Turnover Is Concentrated in the Nordic Markets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37EB00-F082-B1B2-C5CD-6F9206B078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13" y="771795"/>
            <a:ext cx="7074146" cy="489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72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EA995F-F17D-A157-7570-FC1F8A47F7B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10868283" y="5669280"/>
            <a:ext cx="852834" cy="8528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B6792D-4A24-BC5E-D343-47833A4813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13" y="771795"/>
            <a:ext cx="7074145" cy="48974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0AC09B-6CFD-252D-81C6-CEF871E5E0B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31659" y="771795"/>
            <a:ext cx="404842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F2B94D"/>
                </a:solidFill>
              </a:rPr>
              <a:t>Key Insight:</a:t>
            </a:r>
          </a:p>
          <a:p>
            <a:endParaRPr lang="en-GB" sz="1600" dirty="0"/>
          </a:p>
          <a:p>
            <a:r>
              <a:rPr lang="en-GB" sz="1600" dirty="0"/>
              <a:t>Finland (FI) leads first-time deposit revenue at £58k, nearly double Brazil (BR, £32k) and well ahead of Sweden (SE, £27k), Norway (NO, £23k) and Canada (CA, £21k).</a:t>
            </a:r>
          </a:p>
          <a:p>
            <a:endParaRPr lang="en-GB" sz="1600" dirty="0"/>
          </a:p>
          <a:p>
            <a:r>
              <a:rPr lang="en-GB" sz="1600" dirty="0"/>
              <a:t>FI's new depositors bring higher upfront value than any other market’s, a strong candidate market to prioritise for acquisition spend, since new players there are worth more from day one.</a:t>
            </a:r>
          </a:p>
          <a:p>
            <a:endParaRPr lang="en-GB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871106-3AC7-7CE2-DCA8-8127131A18C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1913" y="407406"/>
            <a:ext cx="7074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2B94D"/>
                </a:solidFill>
              </a:rPr>
              <a:t>Where First-Time Depositor Revenue Is Strongest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12592D-49DB-3B2B-5A0E-DFFEC8C67C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13" y="771795"/>
            <a:ext cx="7074145" cy="489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234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27C3D0-BD5E-1ACB-173A-E5F4982ECC6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29" b="4701"/>
          <a:stretch>
            <a:fillRect/>
          </a:stretch>
        </p:blipFill>
        <p:spPr>
          <a:xfrm>
            <a:off x="0" y="-3"/>
            <a:ext cx="12192001" cy="6858000"/>
          </a:xfrm>
          <a:prstGeom prst="rect">
            <a:avLst/>
          </a:prstGeom>
          <a:noFill/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36F72302-5B6F-E579-B4A4-94D1B74C9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-2" y="-2"/>
            <a:ext cx="12192002" cy="6857999"/>
          </a:xfrm>
          <a:gradFill flip="none" rotWithShape="1">
            <a:gsLst>
              <a:gs pos="56000">
                <a:schemeClr val="bg1">
                  <a:lumMod val="99000"/>
                  <a:lumOff val="1000"/>
                </a:schemeClr>
              </a:gs>
              <a:gs pos="100000">
                <a:schemeClr val="bg1">
                  <a:lumMod val="97000"/>
                  <a:alpha val="1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endParaRPr lang="en-US" sz="900" dirty="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041F570-DF80-0D94-A464-7AA09459B3E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10868283" y="5669280"/>
            <a:ext cx="852834" cy="85283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CD31636-B806-920E-9050-50D3E8C7ECE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215" y="1085773"/>
            <a:ext cx="5620968" cy="463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66026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111</TotalTime>
  <Words>685</Words>
  <Application>Microsoft Office PowerPoint</Application>
  <PresentationFormat>Widescreen</PresentationFormat>
  <Paragraphs>58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Arial Nova Light</vt:lpstr>
      <vt:lpstr>Dark Gradient</vt:lpstr>
      <vt:lpstr>j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Relebohile Masita</dc:creator>
  <cp:lastModifiedBy>Relebohile Masita</cp:lastModifiedBy>
  <cp:revision>1</cp:revision>
  <dcterms:created xsi:type="dcterms:W3CDTF">2026-09-07T10:30:18Z</dcterms:created>
  <dcterms:modified xsi:type="dcterms:W3CDTF">2026-09-07T12:21:19Z</dcterms:modified>
</cp:coreProperties>
</file>